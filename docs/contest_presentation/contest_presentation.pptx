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31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881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411480"/>
            <a:ext cx="4572000" cy="3108960"/>
          </a:xfrm>
          <a:prstGeom prst="ellipse">
            <a:avLst/>
          </a:prstGeom>
          <a:solidFill>
            <a:srgbClr val="4BE6FF">
              <a:alpha val="8000"/>
            </a:srgbClr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566160"/>
            <a:ext cx="4023360" cy="2743200"/>
          </a:xfrm>
          <a:prstGeom prst="ellipse">
            <a:avLst/>
          </a:prstGeom>
          <a:solidFill>
            <a:srgbClr val="E3C58A">
              <a:alpha val="5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B">
              <a:alpha val="94000"/>
            </a:srgbClr>
          </a:solidFill>
          <a:ln w="12700">
            <a:solidFill>
              <a:srgbClr val="0C132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5756" y="384048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4BE6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8362" y="45190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КОНКУРСНАЯ ПРЕЗЕНТАЦИЯ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13232" y="914400"/>
            <a:ext cx="6263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77" b="1" dirty="0">
                <a:solidFill>
                  <a:srgbClr val="FFFFFF"/>
                </a:solidFill>
              </a:rPr>
              <a:t>Создание интеллектуальной образовательной платформы для поиска, объяснения и навигации по учебным материалам</a:t>
            </a:r>
            <a:endParaRPr lang="en-US" sz="2677" dirty="0"/>
          </a:p>
        </p:txBody>
      </p:sp>
      <p:sp>
        <p:nvSpPr>
          <p:cNvPr id="9" name="Text 6"/>
          <p:cNvSpPr/>
          <p:nvPr/>
        </p:nvSpPr>
        <p:spPr>
          <a:xfrm>
            <a:off x="768096" y="2816352"/>
            <a:ext cx="60171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Локально</a:t>
            </a: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разворачиваемое </a:t>
            </a:r>
            <a:r>
              <a:rPr lang="en-US" sz="14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AI-решение</a:t>
            </a: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для института на базе </a:t>
            </a:r>
            <a:r>
              <a:rPr lang="en-US" sz="14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семантического поиска, графа знаний </a:t>
            </a:r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и языковых моделей</a:t>
            </a:r>
          </a:p>
        </p:txBody>
      </p:sp>
      <p:sp>
        <p:nvSpPr>
          <p:cNvPr id="10" name="Shape 7"/>
          <p:cNvSpPr/>
          <p:nvPr/>
        </p:nvSpPr>
        <p:spPr>
          <a:xfrm>
            <a:off x="749808" y="3703320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4BE6FF">
                <a:alpha val="7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3781044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E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RAG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554480" y="3703320"/>
            <a:ext cx="1417320" cy="329184"/>
          </a:xfrm>
          <a:prstGeom prst="roundRect">
            <a:avLst>
              <a:gd name="adj" fmla="val 27778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E3C58A">
                <a:alpha val="7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64208" y="378104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C58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Knowledge Graph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090672" y="3703320"/>
            <a:ext cx="1097280" cy="329184"/>
          </a:xfrm>
          <a:prstGeom prst="roundRect">
            <a:avLst>
              <a:gd name="adj" fmla="val 27778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B7F6FF">
                <a:alpha val="7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378104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On-Premise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97680" y="3703320"/>
            <a:ext cx="841248" cy="329184"/>
          </a:xfrm>
          <a:prstGeom prst="roundRect">
            <a:avLst>
              <a:gd name="adj" fmla="val 27778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F4E6C4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07408" y="378104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E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EdTech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3232" y="4572000"/>
            <a:ext cx="5687568" cy="987552"/>
          </a:xfrm>
          <a:prstGeom prst="roundRect">
            <a:avLst>
              <a:gd name="adj" fmla="val 1481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E6FF">
                <a:alpha val="7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4828032"/>
            <a:ext cx="5230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Платформа превращает библиотеку, методические материалы и научные публикации института в </a:t>
            </a:r>
            <a:r>
              <a:rPr lang="en-US" sz="1100" b="1" u="sng" dirty="0">
                <a:solidFill>
                  <a:srgbClr val="FFFFFF"/>
                </a:solidFill>
              </a:rPr>
              <a:t>единую систему </a:t>
            </a:r>
            <a:r>
              <a:rPr lang="en-US" sz="1100" b="1" dirty="0">
                <a:solidFill>
                  <a:srgbClr val="FFFFFF"/>
                </a:solidFill>
              </a:rPr>
              <a:t>знаний с понятным доступом по смыслу.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001000" y="4745736"/>
            <a:ext cx="3310128" cy="658368"/>
          </a:xfrm>
          <a:prstGeom prst="roundRect">
            <a:avLst>
              <a:gd name="adj" fmla="val 16667"/>
            </a:avLst>
          </a:prstGeom>
          <a:solidFill>
            <a:srgbClr val="111B39">
              <a:alpha val="96000"/>
            </a:srgbClr>
          </a:solidFill>
          <a:ln w="12700">
            <a:solidFill>
              <a:srgbClr val="E3C58A">
                <a:alpha val="7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47888" y="4965192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E6C4"/>
                </a:solidFill>
              </a:rPr>
              <a:t>Инвестиция в цифровую интеллектуальную инфраструктуру института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/ 12</a:t>
            </a:r>
            <a:endParaRPr lang="en-US" sz="900" dirty="0"/>
          </a:p>
        </p:txBody>
      </p:sp>
      <p:pic>
        <p:nvPicPr>
          <p:cNvPr id="29" name="Picture 28" descr="A logo with a book and blue dots">
            <a:extLst>
              <a:ext uri="{FF2B5EF4-FFF2-40B4-BE49-F238E27FC236}">
                <a16:creationId xmlns:a16="http://schemas.microsoft.com/office/drawing/2014/main" id="{514C1FA7-8300-1D0F-9F2C-DD50E0E6A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687895"/>
            <a:ext cx="3207876" cy="36765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640080"/>
            <a:ext cx="3383280" cy="2560320"/>
          </a:xfrm>
          <a:prstGeom prst="ellipse">
            <a:avLst/>
          </a:prstGeom>
          <a:solidFill>
            <a:srgbClr val="4BE6FF">
              <a:alpha val="12000"/>
            </a:srgbClr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4160520"/>
            <a:ext cx="2926080" cy="2103120"/>
          </a:xfrm>
          <a:prstGeom prst="ellipse">
            <a:avLst/>
          </a:prstGeom>
          <a:solidFill>
            <a:srgbClr val="E3C58A">
              <a:alpha val="11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1567160" cy="6419088"/>
          </a:xfrm>
          <a:prstGeom prst="rect">
            <a:avLst/>
          </a:prstGeom>
          <a:solidFill>
            <a:srgbClr val="F7F1E6">
              <a:alpha val="0"/>
            </a:srgbClr>
          </a:solidFill>
          <a:ln w="12700">
            <a:solidFill>
              <a:srgbClr val="D8CFBF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0175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6576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ПОЧЕМУ ЭТО НУЖНО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4944" y="713232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46" b="1" dirty="0">
                <a:solidFill>
                  <a:srgbClr val="1A2533"/>
                </a:solidFill>
              </a:rPr>
              <a:t>Сегодня знания есть в институте, но доступа к ним по смыслу почти нет</a:t>
            </a:r>
            <a:endParaRPr lang="en-US" sz="2646" dirty="0"/>
          </a:p>
        </p:txBody>
      </p:sp>
      <p:sp>
        <p:nvSpPr>
          <p:cNvPr id="8" name="Text 6"/>
          <p:cNvSpPr/>
          <p:nvPr/>
        </p:nvSpPr>
        <p:spPr>
          <a:xfrm>
            <a:off x="749808" y="179222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2"/>
                </a:solidFill>
              </a:rPr>
              <a:t>Классическая цифровая библиотека хранит документы. Студенту и преподавателю нужен не архив файлов, а понятный интеллектуальный навигатор.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450592"/>
            <a:ext cx="2578608" cy="1389888"/>
          </a:xfrm>
          <a:prstGeom prst="roundRect">
            <a:avLst>
              <a:gd name="adj" fmla="val 7895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2615184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761488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3"/>
                </a:solidFill>
              </a:rPr>
              <a:t>Фрагментированные источники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320040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Учебники, методички, конспекты и публикации существуют раздельно и не образуют единую карту знаний.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56432" y="2450592"/>
            <a:ext cx="2578608" cy="1389888"/>
          </a:xfrm>
          <a:prstGeom prst="roundRect">
            <a:avLst>
              <a:gd name="adj" fmla="val 7895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39312" y="2615184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2761488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3"/>
                </a:solidFill>
              </a:rPr>
              <a:t>Поиск по названию, а не по смыслу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9312" y="320040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Чтобы найти нужный фрагмент, нужно помнить точный термин, автора или название файла.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9808" y="4023360"/>
            <a:ext cx="2578608" cy="1499616"/>
          </a:xfrm>
          <a:prstGeom prst="roundRect">
            <a:avLst>
              <a:gd name="adj" fmla="val 7895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" y="4187952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B56A4F"/>
          </a:solidFill>
          <a:ln w="12700">
            <a:solidFill>
              <a:srgbClr val="B56A4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33425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3"/>
                </a:solidFill>
              </a:rPr>
              <a:t>Случайные источники из интернета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477316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Если внутри вуза нет удобного поиска, растёт зависимость от внешних и не всегда надёжных материалов.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56432" y="4023360"/>
            <a:ext cx="2578608" cy="1499616"/>
          </a:xfrm>
          <a:prstGeom prst="roundRect">
            <a:avLst>
              <a:gd name="adj" fmla="val 7895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39312" y="4187952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0F8E80"/>
          </a:solidFill>
          <a:ln w="12700">
            <a:solidFill>
              <a:srgbClr val="0F8E8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433425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3"/>
                </a:solidFill>
              </a:rPr>
              <a:t>Повторяющаяся нагрузка на преподавателей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39312" y="477316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Одни и те же темы приходится заново объяснять разным студентам и в разных формулировках.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2377440"/>
            <a:ext cx="4709160" cy="3145536"/>
          </a:xfrm>
          <a:prstGeom prst="roundRect">
            <a:avLst>
              <a:gd name="adj" fmla="val 4651"/>
            </a:avLst>
          </a:prstGeom>
          <a:solidFill>
            <a:srgbClr val="0C132B"/>
          </a:solidFill>
          <a:ln w="12700">
            <a:solidFill>
              <a:srgbClr val="111B39"/>
            </a:solidFill>
            <a:prstDash val="solid"/>
          </a:ln>
          <a:effectLst>
            <a:outerShdw blurRad="29210" dist="16510" dir="2700000" algn="bl" rotWithShape="0">
              <a:srgbClr val="0A0F1E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0" y="26517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E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Последствия для института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12864" y="3136392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3063240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1F4"/>
                </a:solidFill>
              </a:rPr>
              <a:t>теряется время на поиск нужного источника;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12864" y="3584448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3511296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1F4"/>
                </a:solidFill>
              </a:rPr>
              <a:t>снижается глубина понимания сложных тем;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12864" y="4032504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959352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1F4"/>
                </a:solidFill>
              </a:rPr>
              <a:t>ослабевает междисциплинарное мышление;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12864" y="4480560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4407408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1F4"/>
                </a:solidFill>
              </a:rPr>
              <a:t>не полностью раскрывается ценность библиотечного фонда;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12864" y="4928616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4855464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1F4"/>
                </a:solidFill>
              </a:rPr>
              <a:t>растёт рутина повторных объяснений и навигации.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76288" y="5102352"/>
            <a:ext cx="3931920" cy="960120"/>
          </a:xfrm>
          <a:prstGeom prst="roundRect">
            <a:avLst>
              <a:gd name="adj" fmla="val 13333"/>
            </a:avLst>
          </a:prstGeom>
          <a:solidFill>
            <a:srgbClr val="111B39">
              <a:alpha val="95000"/>
            </a:srgbClr>
          </a:solidFill>
          <a:ln w="12700">
            <a:solidFill>
              <a:srgbClr val="E3C58A">
                <a:alpha val="7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77456" y="5266944"/>
            <a:ext cx="3529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Задача проекта: перевести работу с материалами из режима «найти файл» в режим «понять тему и получить следующий шаг».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411480"/>
            <a:ext cx="4572000" cy="3108960"/>
          </a:xfrm>
          <a:prstGeom prst="ellipse">
            <a:avLst/>
          </a:prstGeom>
          <a:solidFill>
            <a:srgbClr val="E3C58A">
              <a:alpha val="8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566160"/>
            <a:ext cx="4023360" cy="2743200"/>
          </a:xfrm>
          <a:prstGeom prst="ellipse">
            <a:avLst/>
          </a:prstGeom>
          <a:solidFill>
            <a:srgbClr val="4BE6FF">
              <a:alpha val="5000"/>
            </a:srgbClr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B">
              <a:alpha val="94000"/>
            </a:srgbClr>
          </a:solidFill>
          <a:ln w="12700">
            <a:solidFill>
              <a:srgbClr val="0C132B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3800" y="182880"/>
            <a:ext cx="4343400" cy="6263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30175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4BE6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36576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СУТЬ РЕШЕНИЯ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94944" y="713232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Платформа собирает разрозненные материалы в единую интеллектуальную образовательную среду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9808" y="179222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9EE"/>
                </a:solidFill>
              </a:rPr>
              <a:t>Каждый документ индексируется отдельно, затем объединяется по дисциплинам и связывается общим графом знаний.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6384" y="2523744"/>
            <a:ext cx="2084832" cy="1225296"/>
          </a:xfrm>
          <a:prstGeom prst="roundRect">
            <a:avLst>
              <a:gd name="adj" fmla="val 10448"/>
            </a:avLst>
          </a:prstGeom>
          <a:solidFill>
            <a:srgbClr val="111B39">
              <a:alpha val="98000"/>
            </a:srgbClr>
          </a:solidFill>
          <a:ln w="12700">
            <a:solidFill>
              <a:srgbClr val="4BE6FF">
                <a:alpha val="82000"/>
              </a:srgbClr>
            </a:solidFill>
            <a:prstDash val="solid"/>
          </a:ln>
          <a:effectLst>
            <a:outerShdw blurRad="27940" dist="15240" dir="2700000" algn="bl" rotWithShape="0">
              <a:srgbClr val="0A0F1E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32688" y="2688336"/>
            <a:ext cx="347472" cy="347472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7614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71600" y="26609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Загрузка корпуса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50976" y="3072384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9F6"/>
                </a:solidFill>
              </a:rPr>
              <a:t>Учебники, методички, конспекты, сборники задач и статьи поступают в единый контур.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072384" y="2523744"/>
            <a:ext cx="2084832" cy="1225296"/>
          </a:xfrm>
          <a:prstGeom prst="roundRect">
            <a:avLst>
              <a:gd name="adj" fmla="val 10448"/>
            </a:avLst>
          </a:prstGeom>
          <a:solidFill>
            <a:srgbClr val="111B39">
              <a:alpha val="98000"/>
            </a:srgbClr>
          </a:solidFill>
          <a:ln w="12700">
            <a:solidFill>
              <a:srgbClr val="E3C58A">
                <a:alpha val="82000"/>
              </a:srgbClr>
            </a:solidFill>
            <a:prstDash val="solid"/>
          </a:ln>
          <a:effectLst>
            <a:outerShdw blurRad="27940" dist="15240" dir="2700000" algn="bl" rotWithShape="0">
              <a:srgbClr val="0A0F1E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18688" y="2688336"/>
            <a:ext cx="347472" cy="347472"/>
          </a:xfrm>
          <a:prstGeom prst="ellipse">
            <a:avLst/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18688" y="27614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0" y="26609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Парсинг и разметка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36976" y="3072384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9F6"/>
                </a:solidFill>
              </a:rPr>
              <a:t>Система выделяет страницы, фрагменты, темы, контекст и структуру источника.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58384" y="2523744"/>
            <a:ext cx="2084832" cy="1225296"/>
          </a:xfrm>
          <a:prstGeom prst="roundRect">
            <a:avLst>
              <a:gd name="adj" fmla="val 10448"/>
            </a:avLst>
          </a:prstGeom>
          <a:solidFill>
            <a:srgbClr val="111B39">
              <a:alpha val="98000"/>
            </a:srgbClr>
          </a:solidFill>
          <a:ln w="12700">
            <a:solidFill>
              <a:srgbClr val="4BE6FF">
                <a:alpha val="82000"/>
              </a:srgbClr>
            </a:solidFill>
            <a:prstDash val="solid"/>
          </a:ln>
          <a:effectLst>
            <a:outerShdw blurRad="27940" dist="15240" dir="2700000" algn="bl" rotWithShape="0">
              <a:srgbClr val="0A0F1E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04688" y="2688336"/>
            <a:ext cx="347472" cy="347472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04688" y="27614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0" y="26609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Семантический индекс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22976" y="3072384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9F6"/>
                </a:solidFill>
              </a:rPr>
              <a:t>Создаются векторные представления, карта источников и связи между фрагментами.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644384" y="2523744"/>
            <a:ext cx="2084832" cy="1225296"/>
          </a:xfrm>
          <a:prstGeom prst="roundRect">
            <a:avLst>
              <a:gd name="adj" fmla="val 10448"/>
            </a:avLst>
          </a:prstGeom>
          <a:solidFill>
            <a:srgbClr val="111B39">
              <a:alpha val="98000"/>
            </a:srgbClr>
          </a:solidFill>
          <a:ln w="12700">
            <a:solidFill>
              <a:srgbClr val="E3C58A">
                <a:alpha val="82000"/>
              </a:srgbClr>
            </a:solidFill>
            <a:prstDash val="solid"/>
          </a:ln>
          <a:effectLst>
            <a:outerShdw blurRad="27940" dist="15240" dir="2700000" algn="bl" rotWithShape="0">
              <a:srgbClr val="0A0F1E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790688" y="2688336"/>
            <a:ext cx="347472" cy="347472"/>
          </a:xfrm>
          <a:prstGeom prst="ellipse">
            <a:avLst/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90688" y="27614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29600" y="26609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Граф знаний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808976" y="3072384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9F6"/>
                </a:solidFill>
              </a:rPr>
              <a:t>Понятия, термины и темы связываются между дисциплинами в единую карту.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9857232" y="2523744"/>
            <a:ext cx="2084832" cy="1225296"/>
          </a:xfrm>
          <a:prstGeom prst="roundRect">
            <a:avLst>
              <a:gd name="adj" fmla="val 10448"/>
            </a:avLst>
          </a:prstGeom>
          <a:solidFill>
            <a:srgbClr val="111B39">
              <a:alpha val="98000"/>
            </a:srgbClr>
          </a:solidFill>
          <a:ln w="12700">
            <a:solidFill>
              <a:srgbClr val="4BE6FF">
                <a:alpha val="82000"/>
              </a:srgbClr>
            </a:solidFill>
            <a:prstDash val="solid"/>
          </a:ln>
          <a:effectLst>
            <a:outerShdw blurRad="27940" dist="15240" dir="2700000" algn="bl" rotWithShape="0">
              <a:srgbClr val="0A0F1E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0003536" y="2688336"/>
            <a:ext cx="347472" cy="347472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03536" y="276148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442448" y="26609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Ответ и закрепление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021824" y="3072384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9F6"/>
                </a:solidFill>
              </a:rPr>
              <a:t>Пользователь получает объяснение, источник, примеры, задачи и опцию MP3-лекции.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761488" y="3136392"/>
            <a:ext cx="256032" cy="0"/>
          </a:xfrm>
          <a:prstGeom prst="line">
            <a:avLst/>
          </a:prstGeom>
          <a:noFill/>
          <a:ln w="12700">
            <a:solidFill>
              <a:srgbClr val="B7F6FF">
                <a:alpha val="7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5047488" y="3136392"/>
            <a:ext cx="256032" cy="0"/>
          </a:xfrm>
          <a:prstGeom prst="line">
            <a:avLst/>
          </a:prstGeom>
          <a:noFill/>
          <a:ln w="12700">
            <a:solidFill>
              <a:srgbClr val="B7F6FF">
                <a:alpha val="7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7333488" y="3136392"/>
            <a:ext cx="256032" cy="0"/>
          </a:xfrm>
          <a:prstGeom prst="line">
            <a:avLst/>
          </a:prstGeom>
          <a:noFill/>
          <a:ln w="12700">
            <a:solidFill>
              <a:srgbClr val="B7F6FF">
                <a:alpha val="7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9747504" y="3136392"/>
            <a:ext cx="256032" cy="0"/>
          </a:xfrm>
          <a:prstGeom prst="line">
            <a:avLst/>
          </a:prstGeom>
          <a:noFill/>
          <a:ln w="12700">
            <a:solidFill>
              <a:srgbClr val="B7F6FF">
                <a:alpha val="7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786384" y="4224528"/>
            <a:ext cx="5394960" cy="1499616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BE6FF">
                <a:alpha val="74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42416" y="44622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E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Пример запроса студента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042416" y="4773168"/>
            <a:ext cx="4736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«Объясни интеграл простыми словами и дай задачи на закрепление»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620256" y="4096511"/>
            <a:ext cx="3344626" cy="2121407"/>
          </a:xfrm>
          <a:prstGeom prst="roundRect">
            <a:avLst>
              <a:gd name="adj" fmla="val 8081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27940" dist="15240" dir="2700000" algn="bl" rotWithShape="0">
              <a:srgbClr val="0A0F1E">
                <a:alpha val="15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858000" y="43525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получает пользователь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839712" y="4718304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59168" y="4645152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понятное объяснение темы;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839712" y="4992624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059168" y="4919472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реальные источники и страницы;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839712" y="5266944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59168" y="5193792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межпредметные аналогии;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6839712" y="5541264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059168" y="5468112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вопросы и задачи на закрепление;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839712" y="5815584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059168" y="5742432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персонализированную MP3-лекцию.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640080"/>
            <a:ext cx="3383280" cy="2560320"/>
          </a:xfrm>
          <a:prstGeom prst="ellipse">
            <a:avLst/>
          </a:prstGeom>
          <a:solidFill>
            <a:srgbClr val="E3C58A">
              <a:alpha val="12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4160520"/>
            <a:ext cx="2926080" cy="2103120"/>
          </a:xfrm>
          <a:prstGeom prst="ellipse">
            <a:avLst/>
          </a:prstGeom>
          <a:solidFill>
            <a:srgbClr val="E3C58A">
              <a:alpha val="11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1567160" cy="6419088"/>
          </a:xfrm>
          <a:prstGeom prst="rect">
            <a:avLst/>
          </a:prstGeom>
          <a:solidFill>
            <a:srgbClr val="F7F1E6">
              <a:alpha val="0"/>
            </a:srgbClr>
          </a:solidFill>
          <a:ln w="12700">
            <a:solidFill>
              <a:srgbClr val="D8CFBF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0175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6576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ЦЕННОСТЬ ДЛЯ СТУДЕНТОВ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4944" y="713232"/>
            <a:ext cx="6903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3"/>
                </a:solidFill>
              </a:rPr>
              <a:t>Платформа становится для студента персональным навигатором по знаниям, а не просто поиском по файлам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1792224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2"/>
                </a:solidFill>
              </a:rPr>
              <a:t>Поддерживает подготовку к семинару, экзамену, курсовой работе и самостоятельному повторению материала.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" y="2340864"/>
            <a:ext cx="2542032" cy="1499616"/>
          </a:xfrm>
          <a:prstGeom prst="roundRect">
            <a:avLst>
              <a:gd name="adj" fmla="val 7792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50976" y="2505456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65176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Найти по смыслу</a:t>
            </a:r>
            <a:endParaRPr lang="en-US" sz="1644" dirty="0"/>
          </a:p>
        </p:txBody>
      </p:sp>
      <p:sp>
        <p:nvSpPr>
          <p:cNvPr id="12" name="Text 10"/>
          <p:cNvSpPr/>
          <p:nvPr/>
        </p:nvSpPr>
        <p:spPr>
          <a:xfrm>
            <a:off x="950976" y="320954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Можно искать даже по неполному описанию темы, формулы, примера или ассоциации.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56432" y="2340864"/>
            <a:ext cx="2542032" cy="1499616"/>
          </a:xfrm>
          <a:prstGeom prst="roundRect">
            <a:avLst>
              <a:gd name="adj" fmla="val 7792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39312" y="2505456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0F8E80"/>
          </a:solidFill>
          <a:ln w="12700">
            <a:solidFill>
              <a:srgbClr val="0F8E8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265176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3"/>
                </a:solidFill>
              </a:rPr>
              <a:t>Понять простым языком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39312" y="320954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Система объясняет сложные темы доступно, но с опорой на утверждённые источники института.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" y="4031049"/>
            <a:ext cx="2542032" cy="1499616"/>
          </a:xfrm>
          <a:prstGeom prst="roundRect">
            <a:avLst>
              <a:gd name="adj" fmla="val 7792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0976" y="4096512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B56A4F"/>
          </a:solidFill>
          <a:ln w="12700">
            <a:solidFill>
              <a:srgbClr val="B56A4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24281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Закрепить задачами</a:t>
            </a:r>
            <a:endParaRPr lang="en-US" sz="1644" dirty="0"/>
          </a:p>
        </p:txBody>
      </p:sp>
      <p:sp>
        <p:nvSpPr>
          <p:cNvPr id="20" name="Text 18"/>
          <p:cNvSpPr/>
          <p:nvPr/>
        </p:nvSpPr>
        <p:spPr>
          <a:xfrm>
            <a:off x="950976" y="480060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После объяснения можно сразу получить упражнения, вопросы и траекторию следующего шага.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56432" y="4023360"/>
            <a:ext cx="2542032" cy="1499616"/>
          </a:xfrm>
          <a:prstGeom prst="roundRect">
            <a:avLst>
              <a:gd name="adj" fmla="val 7792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39312" y="4096512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424281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Учиться на ходу</a:t>
            </a:r>
            <a:endParaRPr lang="en-US" sz="1644" dirty="0"/>
          </a:p>
        </p:txBody>
      </p:sp>
      <p:sp>
        <p:nvSpPr>
          <p:cNvPr id="24" name="Text 22"/>
          <p:cNvSpPr/>
          <p:nvPr/>
        </p:nvSpPr>
        <p:spPr>
          <a:xfrm>
            <a:off x="3639312" y="480060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Персонализированные аудиолекции позволяют повторять тему вне аудитории и в удобном темпе.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65392" y="2304288"/>
            <a:ext cx="4736592" cy="3127248"/>
          </a:xfrm>
          <a:prstGeom prst="roundRect">
            <a:avLst>
              <a:gd name="adj" fmla="val 4678"/>
            </a:avLst>
          </a:prstGeom>
          <a:solidFill>
            <a:srgbClr val="0C132B"/>
          </a:solidFill>
          <a:ln w="12700">
            <a:solidFill>
              <a:srgbClr val="0C13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59689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E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Ключевые сценарии использования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03136" y="2980944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290779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2F5"/>
                </a:solidFill>
              </a:rPr>
              <a:t>подготовка к семинару и экзамену;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03136" y="3401568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332841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2F5"/>
                </a:solidFill>
              </a:rPr>
              <a:t>понимание сложной абстракции через аналогию;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3822192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374904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2F5"/>
                </a:solidFill>
              </a:rPr>
              <a:t>поиск нужного учебника без точного названия;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03136" y="4242816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22592" y="416966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2F5"/>
                </a:solidFill>
              </a:rPr>
              <a:t>подбор материалов для курсовой и диплома;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03136" y="4663440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459028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2F5"/>
                </a:solidFill>
              </a:rPr>
              <a:t>диагностика пробелов и повторение темы.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84848" y="5029200"/>
            <a:ext cx="3950208" cy="960120"/>
          </a:xfrm>
          <a:prstGeom prst="roundRect">
            <a:avLst>
              <a:gd name="adj" fmla="val 13333"/>
            </a:avLst>
          </a:prstGeom>
          <a:solidFill>
            <a:srgbClr val="111B39">
              <a:alpha val="95000"/>
            </a:srgbClr>
          </a:solidFill>
          <a:ln w="12700">
            <a:solidFill>
              <a:srgbClr val="E3C58A">
                <a:alpha val="7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86016" y="5193792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Для студента это 24/7 помощник, который не заменяет преподавателя, а усиливает самостоятельную работу.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411480"/>
            <a:ext cx="4572000" cy="3108960"/>
          </a:xfrm>
          <a:prstGeom prst="ellipse">
            <a:avLst/>
          </a:prstGeom>
          <a:solidFill>
            <a:srgbClr val="4BE6FF">
              <a:alpha val="8000"/>
            </a:srgbClr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566160"/>
            <a:ext cx="4023360" cy="2743200"/>
          </a:xfrm>
          <a:prstGeom prst="ellipse">
            <a:avLst/>
          </a:prstGeom>
          <a:solidFill>
            <a:srgbClr val="E3C58A">
              <a:alpha val="5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B">
              <a:alpha val="94000"/>
            </a:srgbClr>
          </a:solidFill>
          <a:ln w="12700">
            <a:solidFill>
              <a:srgbClr val="0C132B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3800" y="182880"/>
            <a:ext cx="4343400" cy="6263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30175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4BE6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36576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ЦЕННОСТЬ ДЛЯ ИНСТИТУТА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94944" y="713232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Проект усиливает уже существующие ресурсы института и превращает их в конкурентное преимущество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9808" y="179222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1" dirty="0">
                <a:solidFill>
                  <a:srgbClr val="D0D9EE"/>
                </a:solidFill>
              </a:rPr>
              <a:t>Это не очередной чат-бот, а базовый слой интеллектуальной образовательной инфраструктуры.</a:t>
            </a:r>
            <a:endParaRPr lang="en-US" sz="1141" dirty="0"/>
          </a:p>
        </p:txBody>
      </p:sp>
      <p:sp>
        <p:nvSpPr>
          <p:cNvPr id="10" name="Shape 7"/>
          <p:cNvSpPr/>
          <p:nvPr/>
        </p:nvSpPr>
        <p:spPr>
          <a:xfrm>
            <a:off x="786384" y="2377440"/>
            <a:ext cx="5084064" cy="3127248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3C58A">
                <a:alpha val="7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6517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E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Эффект для института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05840" y="3035808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25296" y="29626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растёт фактическая полезность библиотечного и методического фонда;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05840" y="3456432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25296" y="3383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сокращается время поиска материалов и типовых объяснений;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05840" y="3877056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25296" y="38039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появляется управляемая единая среда учебных и научных знаний;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05840" y="4297680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25296" y="42245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усиливается репутация института как площадки реальной цифровой трансформации;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05840" y="4718304"/>
            <a:ext cx="91440" cy="91440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25296" y="4645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создаётся масштабируемая база для будущих сервисов кафедр и лабораторий.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36207" y="2359152"/>
            <a:ext cx="2478023" cy="1435608"/>
          </a:xfrm>
          <a:prstGeom prst="roundRect">
            <a:avLst>
              <a:gd name="adj" fmla="val 8451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19088" y="2523744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19088" y="267004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2" b="1" dirty="0">
                <a:solidFill>
                  <a:srgbClr val="1A2533"/>
                </a:solidFill>
              </a:rPr>
              <a:t>Для преподавателей</a:t>
            </a:r>
            <a:endParaRPr lang="en-US" sz="1572" dirty="0"/>
          </a:p>
        </p:txBody>
      </p:sp>
      <p:sp>
        <p:nvSpPr>
          <p:cNvPr id="25" name="Text 22"/>
          <p:cNvSpPr/>
          <p:nvPr/>
        </p:nvSpPr>
        <p:spPr>
          <a:xfrm>
            <a:off x="6419088" y="3171928"/>
            <a:ext cx="2103120" cy="33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Быстрый доступ к материалам, примерам, задачам и опора на единый корпус источников.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869680" y="2359151"/>
            <a:ext cx="2478024" cy="1395291"/>
          </a:xfrm>
          <a:prstGeom prst="roundRect">
            <a:avLst>
              <a:gd name="adj" fmla="val 8451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052560" y="2523744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52560" y="267004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44" b="1" dirty="0">
                <a:solidFill>
                  <a:srgbClr val="1A2533"/>
                </a:solidFill>
              </a:rPr>
              <a:t>Для библиотеки и УМУ</a:t>
            </a:r>
            <a:endParaRPr lang="en-US" sz="1444" dirty="0"/>
          </a:p>
        </p:txBody>
      </p:sp>
      <p:sp>
        <p:nvSpPr>
          <p:cNvPr id="29" name="Text 26"/>
          <p:cNvSpPr/>
          <p:nvPr/>
        </p:nvSpPr>
        <p:spPr>
          <a:xfrm>
            <a:off x="9052560" y="31546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Интеллектуальная надстройка над каталогами и фондами вместо пассивного хранения PDF.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36208" y="3931920"/>
            <a:ext cx="2468880" cy="1617448"/>
          </a:xfrm>
          <a:prstGeom prst="roundRect">
            <a:avLst>
              <a:gd name="adj" fmla="val 8451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19088" y="4052870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0F8E80"/>
          </a:solidFill>
          <a:ln w="12700">
            <a:solidFill>
              <a:srgbClr val="0F8E8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19088" y="413308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Для безопасности</a:t>
            </a:r>
            <a:endParaRPr lang="en-US" sz="1644" dirty="0"/>
          </a:p>
        </p:txBody>
      </p:sp>
      <p:sp>
        <p:nvSpPr>
          <p:cNvPr id="33" name="Text 30"/>
          <p:cNvSpPr/>
          <p:nvPr/>
        </p:nvSpPr>
        <p:spPr>
          <a:xfrm>
            <a:off x="6419088" y="46542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Локальное развёртывание позволяет не передавать чувствительные материалы во внешние сервисы.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878824" y="3891603"/>
            <a:ext cx="2468880" cy="1617449"/>
          </a:xfrm>
          <a:prstGeom prst="roundRect">
            <a:avLst>
              <a:gd name="adj" fmla="val 8451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102852" y="4054533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B56A4F"/>
          </a:solidFill>
          <a:ln w="12700">
            <a:solidFill>
              <a:srgbClr val="B56A4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52560" y="413308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3"/>
                </a:solidFill>
              </a:rPr>
              <a:t>Для стратегии развития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052560" y="4645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Пилот можно расширить от нескольких дисциплин до общеинститутской платформы без смены концепции.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640080"/>
            <a:ext cx="3383280" cy="2560320"/>
          </a:xfrm>
          <a:prstGeom prst="ellipse">
            <a:avLst/>
          </a:prstGeom>
          <a:solidFill>
            <a:srgbClr val="4BE6FF">
              <a:alpha val="12000"/>
            </a:srgbClr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4160520"/>
            <a:ext cx="2926080" cy="2103120"/>
          </a:xfrm>
          <a:prstGeom prst="ellipse">
            <a:avLst/>
          </a:prstGeom>
          <a:solidFill>
            <a:srgbClr val="E3C58A">
              <a:alpha val="11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1995" y="228600"/>
            <a:ext cx="11567160" cy="6419088"/>
          </a:xfrm>
          <a:prstGeom prst="rect">
            <a:avLst/>
          </a:prstGeom>
          <a:solidFill>
            <a:srgbClr val="F7F1E6">
              <a:alpha val="0"/>
            </a:srgbClr>
          </a:solidFill>
          <a:ln w="12700">
            <a:solidFill>
              <a:srgbClr val="D8CFBF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01752"/>
            <a:ext cx="20848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6576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ТЕХНОЛОГИЧНОСТЬ И НОВИЗНА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4944" y="713232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3"/>
                </a:solidFill>
              </a:rPr>
              <a:t>Проект соответствует технологическим приоритетам и соединяет несколько критических технологий в одну систему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185436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/>
              <a:t>Главная </a:t>
            </a:r>
            <a:r>
              <a:rPr lang="en-US" sz="1100" i="1" dirty="0">
                <a:highlight>
                  <a:srgbClr val="FFFF00"/>
                </a:highlight>
              </a:rPr>
              <a:t>инновация</a:t>
            </a:r>
            <a:r>
              <a:rPr lang="en-US" sz="1100" i="1" dirty="0"/>
              <a:t> в том, что </a:t>
            </a:r>
            <a:r>
              <a:rPr lang="en-US" sz="1100" i="1" dirty="0">
                <a:highlight>
                  <a:srgbClr val="FFFF00"/>
                </a:highlight>
              </a:rPr>
              <a:t>поиск, объяснение, межпредметные связи, практика и аудиолекции </a:t>
            </a:r>
            <a:r>
              <a:rPr lang="en-US" sz="1100" i="1" dirty="0"/>
              <a:t>работают в </a:t>
            </a:r>
            <a:r>
              <a:rPr lang="en-US" sz="1100" i="1" dirty="0">
                <a:highlight>
                  <a:srgbClr val="FFFF00"/>
                </a:highlight>
              </a:rPr>
              <a:t>едином</a:t>
            </a:r>
            <a:r>
              <a:rPr lang="en-US" sz="1100" i="1" dirty="0"/>
              <a:t> образовательном контуре.</a:t>
            </a:r>
          </a:p>
        </p:txBody>
      </p:sp>
      <p:sp>
        <p:nvSpPr>
          <p:cNvPr id="9" name="Text 7"/>
          <p:cNvSpPr/>
          <p:nvPr/>
        </p:nvSpPr>
        <p:spPr>
          <a:xfrm>
            <a:off x="969264" y="2371621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Технологический стек проекта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" y="2670048"/>
            <a:ext cx="2615184" cy="329184"/>
          </a:xfrm>
          <a:prstGeom prst="roundRect">
            <a:avLst>
              <a:gd name="adj" fmla="val 27778"/>
            </a:avLst>
          </a:prstGeom>
          <a:solidFill>
            <a:srgbClr val="FFF9EF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1" name="Text 9"/>
          <p:cNvSpPr/>
          <p:nvPr/>
        </p:nvSpPr>
        <p:spPr>
          <a:xfrm>
            <a:off x="896112" y="2747772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Семантический поиск по документам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86384" y="3108960"/>
            <a:ext cx="2377440" cy="329184"/>
          </a:xfrm>
          <a:prstGeom prst="roundRect">
            <a:avLst>
              <a:gd name="adj" fmla="val 27778"/>
            </a:avLst>
          </a:prstGeom>
          <a:solidFill>
            <a:srgbClr val="FFF9EF"/>
          </a:solidFill>
          <a:ln w="12700">
            <a:solidFill>
              <a:srgbClr val="0F8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18668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RAG с опорой на источники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86384" y="3547872"/>
            <a:ext cx="2834640" cy="329184"/>
          </a:xfrm>
          <a:prstGeom prst="roundRect">
            <a:avLst>
              <a:gd name="adj" fmla="val 27778"/>
            </a:avLst>
          </a:prstGeom>
          <a:solidFill>
            <a:srgbClr val="FFF9EF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5" name="Text 13"/>
          <p:cNvSpPr/>
          <p:nvPr/>
        </p:nvSpPr>
        <p:spPr>
          <a:xfrm>
            <a:off x="896112" y="362559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Граф знаний и межпредметные связи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6384" y="3986784"/>
            <a:ext cx="2871216" cy="329184"/>
          </a:xfrm>
          <a:prstGeom prst="roundRect">
            <a:avLst>
              <a:gd name="adj" fmla="val 27778"/>
            </a:avLst>
          </a:prstGeom>
          <a:solidFill>
            <a:srgbClr val="FFF9EF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0645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Локальные / институциональные LLM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" y="4425696"/>
            <a:ext cx="2066544" cy="329184"/>
          </a:xfrm>
          <a:prstGeom prst="roundRect">
            <a:avLst>
              <a:gd name="adj" fmla="val 27778"/>
            </a:avLst>
          </a:prstGeom>
          <a:solidFill>
            <a:srgbClr val="FFF9EF"/>
          </a:solidFill>
          <a:ln w="12700">
            <a:solidFill>
              <a:srgbClr val="0F8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503420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TTS и аудиоформат MP3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27064" y="2627434"/>
            <a:ext cx="3337560" cy="3337560"/>
          </a:xfrm>
          <a:prstGeom prst="ellipse">
            <a:avLst/>
          </a:prstGeom>
          <a:solidFill>
            <a:srgbClr val="0C132B"/>
          </a:solidFill>
          <a:ln w="12700">
            <a:solidFill>
              <a:srgbClr val="4BE6FF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7144" y="3286010"/>
            <a:ext cx="2057400" cy="2057400"/>
          </a:xfrm>
          <a:prstGeom prst="ellipse">
            <a:avLst/>
          </a:prstGeom>
          <a:solidFill>
            <a:srgbClr val="111B39"/>
          </a:solidFill>
          <a:ln w="12700">
            <a:solidFill>
              <a:srgbClr val="E3C58A">
                <a:alpha val="8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5220" y="3923596"/>
            <a:ext cx="786384" cy="786384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0548" y="302956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Образовательный контур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36308" y="356469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E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RAG + граф знаний + маршрутизация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8372" y="424800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источники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733788" y="3683644"/>
            <a:ext cx="1773936" cy="1561961"/>
          </a:xfrm>
          <a:prstGeom prst="roundRect">
            <a:avLst>
              <a:gd name="adj" fmla="val 10000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946386" y="3861952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16668" y="3923674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Не чат-бот</a:t>
            </a:r>
            <a:endParaRPr lang="en-US" sz="1644" dirty="0"/>
          </a:p>
        </p:txBody>
      </p:sp>
      <p:sp>
        <p:nvSpPr>
          <p:cNvPr id="29" name="Text 27"/>
          <p:cNvSpPr/>
          <p:nvPr/>
        </p:nvSpPr>
        <p:spPr>
          <a:xfrm>
            <a:off x="9916668" y="4495174"/>
            <a:ext cx="14081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Система отвечает по документам института, а не по абстрактной памяти модели.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01854" y="3539417"/>
            <a:ext cx="1773936" cy="1677509"/>
          </a:xfrm>
          <a:prstGeom prst="roundRect">
            <a:avLst>
              <a:gd name="adj" fmla="val 10000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61874" y="3656212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1874" y="3683644"/>
            <a:ext cx="1408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Не каталог</a:t>
            </a:r>
            <a:endParaRPr lang="en-US" sz="1644" dirty="0"/>
          </a:p>
        </p:txBody>
      </p:sp>
      <p:sp>
        <p:nvSpPr>
          <p:cNvPr id="33" name="Text 31"/>
          <p:cNvSpPr/>
          <p:nvPr/>
        </p:nvSpPr>
        <p:spPr>
          <a:xfrm>
            <a:off x="4461874" y="4241428"/>
            <a:ext cx="14081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Платформа связывает дисциплины и превращает корпус PDF в рабочую карту знаний.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/ 12</a:t>
            </a:r>
            <a:endParaRPr lang="en-US" sz="900" dirty="0"/>
          </a:p>
        </p:txBody>
      </p:sp>
      <p:pic>
        <p:nvPicPr>
          <p:cNvPr id="36" name="Picture 35" descr="A logo of a book and a triangle with dots">
            <a:extLst>
              <a:ext uri="{FF2B5EF4-FFF2-40B4-BE49-F238E27FC236}">
                <a16:creationId xmlns:a16="http://schemas.microsoft.com/office/drawing/2014/main" id="{8D3CFB7E-2638-4F91-93BC-815209975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483" y="495324"/>
            <a:ext cx="2444241" cy="2630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411480"/>
            <a:ext cx="4572000" cy="3108960"/>
          </a:xfrm>
          <a:prstGeom prst="ellipse">
            <a:avLst/>
          </a:prstGeom>
          <a:solidFill>
            <a:srgbClr val="E3C58A">
              <a:alpha val="8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566160"/>
            <a:ext cx="4023360" cy="2743200"/>
          </a:xfrm>
          <a:prstGeom prst="ellipse">
            <a:avLst/>
          </a:prstGeom>
          <a:solidFill>
            <a:srgbClr val="4BE6FF">
              <a:alpha val="5000"/>
            </a:srgbClr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B">
              <a:alpha val="94000"/>
            </a:srgbClr>
          </a:solidFill>
          <a:ln w="12700">
            <a:solidFill>
              <a:srgbClr val="0C132B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3800" y="182880"/>
            <a:ext cx="4343400" cy="6263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30175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4BE6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36576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ЗАДЕЛ УЖЕ СОЗДАН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94944" y="713232"/>
            <a:ext cx="6620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68" b="1" dirty="0">
                <a:solidFill>
                  <a:srgbClr val="FFFFFF"/>
                </a:solidFill>
              </a:rPr>
              <a:t>Ключевой MVP-контур уже реализован в рабочей кодовой базе</a:t>
            </a:r>
            <a:endParaRPr lang="en-US" sz="2668" dirty="0"/>
          </a:p>
        </p:txBody>
      </p:sp>
      <p:sp>
        <p:nvSpPr>
          <p:cNvPr id="9" name="Text 6"/>
          <p:cNvSpPr/>
          <p:nvPr/>
        </p:nvSpPr>
        <p:spPr>
          <a:xfrm>
            <a:off x="749808" y="1792224"/>
            <a:ext cx="6528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9EE"/>
                </a:solidFill>
              </a:rPr>
              <a:t>Это повышает достижимость проекта: концепция подтверждена не только идеей, но и реальными модулями, API и пользовательским интерфейсом.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" y="2359152"/>
            <a:ext cx="5742432" cy="3621024"/>
          </a:xfrm>
          <a:prstGeom prst="roundRect">
            <a:avLst>
              <a:gd name="adj" fmla="val 4040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29210" dist="16510" dir="2700000" algn="bl" rotWithShape="0">
              <a:srgbClr val="0A0F1E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05840" y="261518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Реализованные модули MVP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05840" y="2980944"/>
            <a:ext cx="2267712" cy="329184"/>
          </a:xfrm>
          <a:prstGeom prst="roundRect">
            <a:avLst>
              <a:gd name="adj" fmla="val 27778"/>
            </a:avLst>
          </a:prstGeom>
          <a:solidFill>
            <a:srgbClr val="F7F1E6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3058668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PDF upload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566160" y="2980944"/>
            <a:ext cx="2267712" cy="329184"/>
          </a:xfrm>
          <a:prstGeom prst="roundRect">
            <a:avLst>
              <a:gd name="adj" fmla="val 27778"/>
            </a:avLst>
          </a:prstGeom>
          <a:solidFill>
            <a:srgbClr val="F7F1E6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75888" y="3058668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6">
                    <a:lumMod val="75000"/>
                  </a:scheme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Parser &amp; catalog</a:t>
            </a:r>
            <a:endParaRPr lang="en-US" sz="9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05840" y="3657600"/>
            <a:ext cx="2267712" cy="329184"/>
          </a:xfrm>
          <a:prstGeom prst="roundRect">
            <a:avLst>
              <a:gd name="adj" fmla="val 27778"/>
            </a:avLst>
          </a:prstGeom>
          <a:solidFill>
            <a:srgbClr val="F7F1E6"/>
          </a:solidFill>
          <a:ln w="12700">
            <a:solidFill>
              <a:srgbClr val="0F8E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3735324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LightRAG indexing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66160" y="3657600"/>
            <a:ext cx="2267712" cy="329184"/>
          </a:xfrm>
          <a:prstGeom prst="roundRect">
            <a:avLst>
              <a:gd name="adj" fmla="val 27778"/>
            </a:avLst>
          </a:prstGeom>
          <a:solidFill>
            <a:srgbClr val="F7F1E6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75888" y="3735324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Query router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005840" y="4334256"/>
            <a:ext cx="2267712" cy="329184"/>
          </a:xfrm>
          <a:prstGeom prst="roundRect">
            <a:avLst>
              <a:gd name="adj" fmla="val 27778"/>
            </a:avLst>
          </a:prstGeom>
          <a:solidFill>
            <a:srgbClr val="F7F1E6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1" name="Text 18"/>
          <p:cNvSpPr/>
          <p:nvPr/>
        </p:nvSpPr>
        <p:spPr>
          <a:xfrm>
            <a:off x="1115568" y="441198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Reindex / repair jobs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566160" y="4334256"/>
            <a:ext cx="2267712" cy="329184"/>
          </a:xfrm>
          <a:prstGeom prst="roundRect">
            <a:avLst>
              <a:gd name="adj" fmla="val 27778"/>
            </a:avLst>
          </a:prstGeom>
          <a:solidFill>
            <a:srgbClr val="F7F1E6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75888" y="441198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5">
                    <a:lumMod val="75000"/>
                  </a:scheme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 UI + API</a:t>
            </a:r>
            <a:endParaRPr lang="en-US" sz="9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024128" y="5138928"/>
            <a:ext cx="5212080" cy="512064"/>
          </a:xfrm>
          <a:prstGeom prst="roundRect">
            <a:avLst>
              <a:gd name="adj" fmla="val 14286"/>
            </a:avLst>
          </a:prstGeom>
          <a:solidFill>
            <a:srgbClr val="0C132B"/>
          </a:solidFill>
          <a:ln w="12700">
            <a:solidFill>
              <a:srgbClr val="0C132B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25296" y="5303520"/>
            <a:ext cx="4791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E6C4"/>
                </a:solidFill>
              </a:rPr>
              <a:t>API уже покрывает базовый цикл: /books/upload • /books/{id}/index • /ask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803136" y="2359152"/>
            <a:ext cx="4389120" cy="3621024"/>
          </a:xfrm>
          <a:prstGeom prst="roundRect">
            <a:avLst>
              <a:gd name="adj" fmla="val 4545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4BE6FF">
                <a:alpha val="7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59168" y="259689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E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Эскиз пользовательского контура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50024" y="2866644"/>
            <a:ext cx="3877056" cy="2706624"/>
          </a:xfrm>
          <a:prstGeom prst="roundRect">
            <a:avLst>
              <a:gd name="adj" fmla="val 4054"/>
            </a:avLst>
          </a:prstGeom>
          <a:solidFill>
            <a:srgbClr val="F7F1E6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87184" y="3035808"/>
            <a:ext cx="1170432" cy="1847088"/>
          </a:xfrm>
          <a:prstGeom prst="roundRect">
            <a:avLst>
              <a:gd name="adj" fmla="val 7813"/>
            </a:avLst>
          </a:prstGeom>
          <a:solidFill>
            <a:srgbClr val="F5ECDD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15200" y="3200400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Библиотека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7251192" y="3511296"/>
            <a:ext cx="996696" cy="329184"/>
          </a:xfrm>
          <a:prstGeom prst="roundRect">
            <a:avLst>
              <a:gd name="adj" fmla="val 27778"/>
            </a:avLst>
          </a:prstGeom>
          <a:solidFill>
            <a:srgbClr val="FFF9EF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24928" y="3589020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5">
                    <a:lumMod val="75000"/>
                  </a:scheme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Математика</a:t>
            </a:r>
            <a:endParaRPr lang="en-US" sz="9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251192" y="3950208"/>
            <a:ext cx="996696" cy="329184"/>
          </a:xfrm>
          <a:prstGeom prst="roundRect">
            <a:avLst>
              <a:gd name="adj" fmla="val 27778"/>
            </a:avLst>
          </a:prstGeom>
          <a:solidFill>
            <a:srgbClr val="FFF9EF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24928" y="402793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2">
                    <a:lumMod val="75000"/>
                  </a:schemeClr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Физика</a:t>
            </a:r>
            <a:endParaRPr lang="en-US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278624" y="4389120"/>
            <a:ext cx="969264" cy="329184"/>
          </a:xfrm>
          <a:prstGeom prst="roundRect">
            <a:avLst>
              <a:gd name="adj" fmla="val 27778"/>
            </a:avLst>
          </a:prstGeom>
          <a:solidFill>
            <a:srgbClr val="FFF9EF"/>
          </a:solidFill>
          <a:ln w="12700">
            <a:solidFill>
              <a:srgbClr val="0F8E8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60920" y="4462272"/>
            <a:ext cx="7744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Информатика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503920" y="3035808"/>
            <a:ext cx="2304288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23376" y="32004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i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Объясни интеграл простыми словами</a:t>
            </a:r>
            <a:endParaRPr lang="en-US" sz="920" b="1" i="1" dirty="0"/>
          </a:p>
        </p:txBody>
      </p:sp>
      <p:sp>
        <p:nvSpPr>
          <p:cNvPr id="39" name="Shape 36"/>
          <p:cNvSpPr/>
          <p:nvPr/>
        </p:nvSpPr>
        <p:spPr>
          <a:xfrm>
            <a:off x="8503920" y="3712464"/>
            <a:ext cx="2304288" cy="11430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723376" y="3881005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 err="1">
                <a:solidFill>
                  <a:srgbClr val="1A25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Краткое</a:t>
            </a:r>
            <a:r>
              <a:rPr lang="en-US" sz="930" b="1" dirty="0">
                <a:solidFill>
                  <a:srgbClr val="1A25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</a:t>
            </a:r>
            <a:r>
              <a:rPr lang="en-US" sz="930" b="1" dirty="0" err="1">
                <a:solidFill>
                  <a:srgbClr val="1A25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объяснение</a:t>
            </a:r>
            <a:r>
              <a:rPr lang="ru-RU" sz="930" b="1" dirty="0">
                <a:solidFill>
                  <a:srgbClr val="1A25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</a:t>
            </a:r>
            <a:r>
              <a:rPr lang="en-US" sz="930" b="1" dirty="0">
                <a:solidFill>
                  <a:srgbClr val="1A25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:</a:t>
            </a:r>
            <a:endParaRPr lang="en-US" sz="930" dirty="0"/>
          </a:p>
        </p:txBody>
      </p:sp>
      <p:sp>
        <p:nvSpPr>
          <p:cNvPr id="41" name="Text 38"/>
          <p:cNvSpPr/>
          <p:nvPr/>
        </p:nvSpPr>
        <p:spPr>
          <a:xfrm>
            <a:off x="8604505" y="4114800"/>
            <a:ext cx="2103120" cy="582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E7682"/>
                </a:solidFill>
              </a:rPr>
              <a:t>Интеграл позволяет оценить суммарный эффект бесконечно малого изменения и увидеть общую величину из множества малых частей.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7479792" y="4992624"/>
            <a:ext cx="1389888" cy="493776"/>
          </a:xfrm>
          <a:prstGeom prst="roundRect">
            <a:avLst>
              <a:gd name="adj" fmla="val 18519"/>
            </a:avLst>
          </a:prstGeom>
          <a:solidFill>
            <a:srgbClr val="DCF4EA"/>
          </a:solidFill>
          <a:ln w="12700">
            <a:solidFill>
              <a:srgbClr val="24A07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666413" y="5193792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4A0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Источник: стр. 184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9211126" y="4992624"/>
            <a:ext cx="1389888" cy="493776"/>
          </a:xfrm>
          <a:prstGeom prst="roundRect">
            <a:avLst>
              <a:gd name="adj" fmla="val 18519"/>
            </a:avLst>
          </a:prstGeom>
          <a:solidFill>
            <a:srgbClr val="F6DDD4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288227" y="518922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Задачи на закрепление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640080"/>
            <a:ext cx="3383280" cy="2560320"/>
          </a:xfrm>
          <a:prstGeom prst="ellipse">
            <a:avLst/>
          </a:prstGeom>
          <a:solidFill>
            <a:srgbClr val="4BE6FF">
              <a:alpha val="12000"/>
            </a:srgbClr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4160520"/>
            <a:ext cx="2926080" cy="2103120"/>
          </a:xfrm>
          <a:prstGeom prst="ellipse">
            <a:avLst/>
          </a:prstGeom>
          <a:solidFill>
            <a:srgbClr val="E3C58A">
              <a:alpha val="11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2420" y="137160"/>
            <a:ext cx="11567160" cy="6419088"/>
          </a:xfrm>
          <a:prstGeom prst="rect">
            <a:avLst/>
          </a:prstGeom>
          <a:solidFill>
            <a:srgbClr val="F7F1E6">
              <a:alpha val="0"/>
            </a:srgbClr>
          </a:solidFill>
          <a:ln w="12700">
            <a:solidFill>
              <a:srgbClr val="D8CFBF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0175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6576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КОНКУРЕНТНЫЕ ПРЕИМУЩЕСТВА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3226" y="640080"/>
            <a:ext cx="7059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3"/>
                </a:solidFill>
              </a:rPr>
              <a:t>Преимущество проекта в том, что он соединяет сильные стороны поиска, обучения и локального внедрения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7" y="1620982"/>
            <a:ext cx="10441201" cy="67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Сравнение показывает, </a:t>
            </a:r>
            <a:r>
              <a:rPr lang="en-US" sz="1100" dirty="0">
                <a:highlight>
                  <a:srgbClr val="FFFF00"/>
                </a:highlight>
              </a:rPr>
              <a:t>что ни электронная библиотека</a:t>
            </a:r>
            <a:r>
              <a:rPr lang="en-US" sz="1100" dirty="0"/>
              <a:t>, ни обычный </a:t>
            </a:r>
            <a:r>
              <a:rPr lang="en-US" sz="1100" dirty="0">
                <a:highlight>
                  <a:srgbClr val="FFFF00"/>
                </a:highlight>
              </a:rPr>
              <a:t>чат-бот не закрывают </a:t>
            </a:r>
            <a:r>
              <a:rPr lang="en-US" sz="1100" dirty="0"/>
              <a:t>полный образовательный контур.</a:t>
            </a:r>
          </a:p>
        </p:txBody>
      </p:sp>
      <p:sp>
        <p:nvSpPr>
          <p:cNvPr id="9" name="Text 7"/>
          <p:cNvSpPr/>
          <p:nvPr/>
        </p:nvSpPr>
        <p:spPr>
          <a:xfrm>
            <a:off x="978409" y="2210146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Критерий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70832" y="20482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533"/>
                </a:solidFill>
              </a:rPr>
              <a:t>Электронная библиотека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47104" y="20482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533"/>
                </a:solidFill>
              </a:rPr>
              <a:t>Обычный чат-бот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23376" y="204825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533"/>
                </a:solidFill>
              </a:rPr>
              <a:t>Предлагаемая платформа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6384" y="2450592"/>
            <a:ext cx="3584448" cy="438912"/>
          </a:xfrm>
          <a:prstGeom prst="roundRect">
            <a:avLst>
              <a:gd name="adj" fmla="val 16667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551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Работает по документам института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245059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DCF4EA"/>
          </a:solidFill>
          <a:ln w="12700">
            <a:solidFill>
              <a:srgbClr val="24A0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5420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A0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47104" y="245059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6DDD4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5420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23376" y="245059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DCF4EA"/>
          </a:solidFill>
          <a:ln w="12700">
            <a:solidFill>
              <a:srgbClr val="24A0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23376" y="25420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A0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6384" y="2980944"/>
            <a:ext cx="3584448" cy="438912"/>
          </a:xfrm>
          <a:prstGeom prst="roundRect">
            <a:avLst>
              <a:gd name="adj" fmla="val 16667"/>
            </a:avLst>
          </a:prstGeom>
          <a:solidFill>
            <a:srgbClr val="FBF6EE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081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Показывает реальные источники и страницы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70832" y="2980944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6DDD4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30723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47104" y="2980944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6DDD4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30723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23376" y="2980944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DCF4EA"/>
          </a:solidFill>
          <a:ln w="12700">
            <a:solidFill>
              <a:srgbClr val="24A0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23376" y="30723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A0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" y="3511296"/>
            <a:ext cx="3584448" cy="438912"/>
          </a:xfrm>
          <a:prstGeom prst="roundRect">
            <a:avLst>
              <a:gd name="adj" fmla="val 16667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Ищет по смыслу, а не только по ключевому слову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70832" y="3511296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3ECE7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6027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768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47104" y="3511296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6DDD4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7104" y="36027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723376" y="3511296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DCF4EA"/>
          </a:solidFill>
          <a:ln w="12700">
            <a:solidFill>
              <a:srgbClr val="24A0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23376" y="36027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A0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6384" y="4041648"/>
            <a:ext cx="3584448" cy="438912"/>
          </a:xfrm>
          <a:prstGeom prst="roundRect">
            <a:avLst>
              <a:gd name="adj" fmla="val 16667"/>
            </a:avLst>
          </a:prstGeom>
          <a:solidFill>
            <a:srgbClr val="FBF6EE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688" y="4142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Строит межпредметные связи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70832" y="4041648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3ECE7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0832" y="41330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768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547104" y="4041648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6DDD4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7104" y="41330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23376" y="4041648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DCF4EA"/>
          </a:solidFill>
          <a:ln w="12700">
            <a:solidFill>
              <a:srgbClr val="24A0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23376" y="41330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A0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6384" y="4572000"/>
            <a:ext cx="3584448" cy="438912"/>
          </a:xfrm>
          <a:prstGeom prst="roundRect">
            <a:avLst>
              <a:gd name="adj" fmla="val 16667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" y="4672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Подбирает задачи и следующий шаг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370832" y="4572000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3ECE7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70832" y="46634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E768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нет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547104" y="4572000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6DDD4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46634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723376" y="4572000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DCF4EA"/>
          </a:solidFill>
          <a:ln w="12700">
            <a:solidFill>
              <a:srgbClr val="24A07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23376" y="46634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A0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86384" y="5102352"/>
            <a:ext cx="3584448" cy="438912"/>
          </a:xfrm>
          <a:prstGeom prst="roundRect">
            <a:avLst>
              <a:gd name="adj" fmla="val 16667"/>
            </a:avLst>
          </a:prstGeom>
          <a:solidFill>
            <a:srgbClr val="FBF6EE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2688" y="5202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533"/>
                </a:solidFill>
              </a:rPr>
              <a:t>Можно развернуть локально внутри вуза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70832" y="510235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6DDD4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70832" y="51937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547104" y="510235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F6DDD4"/>
          </a:solidFill>
          <a:ln w="12700">
            <a:solidFill>
              <a:srgbClr val="B56A4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47104" y="51937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56A4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частично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723376" y="5102352"/>
            <a:ext cx="1993392" cy="438912"/>
          </a:xfrm>
          <a:prstGeom prst="roundRect">
            <a:avLst>
              <a:gd name="adj" fmla="val 16667"/>
            </a:avLst>
          </a:prstGeom>
          <a:solidFill>
            <a:srgbClr val="DCF4EA"/>
          </a:solidFill>
          <a:ln w="12700">
            <a:solidFill>
              <a:srgbClr val="24A07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23376" y="51937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4A0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86384" y="5669280"/>
            <a:ext cx="10241280" cy="960120"/>
          </a:xfrm>
          <a:prstGeom prst="roundRect">
            <a:avLst>
              <a:gd name="adj" fmla="val 13333"/>
            </a:avLst>
          </a:prstGeom>
          <a:solidFill>
            <a:srgbClr val="FFF9EF"/>
          </a:solidFill>
          <a:ln w="12700">
            <a:solidFill>
              <a:srgbClr val="0F8E8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7552" y="5833872"/>
            <a:ext cx="9838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2533"/>
                </a:solidFill>
              </a:rPr>
              <a:t>Платформа выигрывает там, где важны точность источников, локальное развёртывание и реальное сопровождение учебного процесса.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411480"/>
            <a:ext cx="4572000" cy="3108960"/>
          </a:xfrm>
          <a:prstGeom prst="ellipse">
            <a:avLst/>
          </a:prstGeom>
          <a:solidFill>
            <a:srgbClr val="4BE6FF">
              <a:alpha val="8000"/>
            </a:srgbClr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566160"/>
            <a:ext cx="4023360" cy="2743200"/>
          </a:xfrm>
          <a:prstGeom prst="ellipse">
            <a:avLst/>
          </a:prstGeom>
          <a:solidFill>
            <a:srgbClr val="E3C58A">
              <a:alpha val="5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32" y="45720"/>
            <a:ext cx="12191695" cy="6858000"/>
          </a:xfrm>
          <a:prstGeom prst="rect">
            <a:avLst/>
          </a:prstGeom>
          <a:solidFill>
            <a:srgbClr val="0C132B">
              <a:alpha val="94000"/>
            </a:srgbClr>
          </a:solidFill>
          <a:ln w="12700">
            <a:solidFill>
              <a:srgbClr val="0C132B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3800" y="182880"/>
            <a:ext cx="4343400" cy="6263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30175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4BE6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36576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РЫНОК И МАСШТАБИРОВАНИЕ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94944" y="713232"/>
            <a:ext cx="6784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У проекта есть понятный пилотный сегмент и реалистичный путь коммерческой реализации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9808" y="1792224"/>
            <a:ext cx="6693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9EE"/>
                </a:solidFill>
              </a:rPr>
              <a:t>Первый заказчик и главный </a:t>
            </a:r>
            <a:r>
              <a:rPr lang="en-US" sz="1100" dirty="0">
                <a:highlight>
                  <a:srgbClr val="FFFF00"/>
                </a:highlight>
              </a:rPr>
              <a:t>бенефициар может находиться внутри института</a:t>
            </a:r>
            <a:r>
              <a:rPr lang="en-US" sz="1100" dirty="0">
                <a:solidFill>
                  <a:srgbClr val="D0D9EE"/>
                </a:solidFill>
              </a:rPr>
              <a:t>, а затем решение масштабируется на другие образовательные организации.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" y="2377440"/>
            <a:ext cx="3054096" cy="1188720"/>
          </a:xfrm>
          <a:prstGeom prst="roundRect">
            <a:avLst>
              <a:gd name="adj" fmla="val 9836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50976" y="2542032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688336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3"/>
                </a:solidFill>
              </a:rPr>
              <a:t>Студенты и магистранты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0976" y="305409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Основные пользователи для учёбы, экзаменов, курсовых и научной подготовки.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68096" y="3694176"/>
            <a:ext cx="3054096" cy="1188720"/>
          </a:xfrm>
          <a:prstGeom prst="roundRect">
            <a:avLst>
              <a:gd name="adj" fmla="val 9836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50976" y="3858768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0976" y="400507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3"/>
                </a:solidFill>
              </a:rPr>
              <a:t>Преподаватели и библиотеки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50976" y="43708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Внутренние заказчики пилота: кафедры, преподаватели, библиотеки и УМУ.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8096" y="5010912"/>
            <a:ext cx="3054096" cy="1225296"/>
          </a:xfrm>
          <a:prstGeom prst="roundRect">
            <a:avLst>
              <a:gd name="adj" fmla="val 9836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50976" y="5175504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0F8E80"/>
          </a:solidFill>
          <a:ln w="12700">
            <a:solidFill>
              <a:srgbClr val="0F8E8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0976" y="5321808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3"/>
                </a:solidFill>
              </a:rPr>
              <a:t>Исследовательские группы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50976" y="5742432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Следующий сегмент роста: публикации, обзор литературы и межтематические связи.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69664" y="4613148"/>
            <a:ext cx="2322576" cy="1225296"/>
          </a:xfrm>
          <a:prstGeom prst="roundRect">
            <a:avLst>
              <a:gd name="adj" fmla="val 10448"/>
            </a:avLst>
          </a:prstGeom>
          <a:solidFill>
            <a:srgbClr val="FFF9EF"/>
          </a:solidFill>
          <a:ln w="12700">
            <a:solidFill>
              <a:srgbClr val="4BE6FF"/>
            </a:solidFill>
            <a:prstDash val="solid"/>
          </a:ln>
          <a:effectLst>
            <a:outerShdw blurRad="27940" dist="15240" dir="2700000" algn="bl" rotWithShape="0">
              <a:srgbClr val="0A0F1E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15968" y="4768596"/>
            <a:ext cx="347472" cy="347472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16176" y="490575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54880" y="475945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Пилот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334256" y="512521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1" dirty="0">
                <a:solidFill>
                  <a:srgbClr val="6E7682"/>
                </a:solidFill>
              </a:rPr>
              <a:t>2-3 дисциплины внутри института</a:t>
            </a:r>
            <a:endParaRPr lang="en-US" sz="961" dirty="0"/>
          </a:p>
        </p:txBody>
      </p:sp>
      <p:sp>
        <p:nvSpPr>
          <p:cNvPr id="27" name="Shape 24"/>
          <p:cNvSpPr/>
          <p:nvPr/>
        </p:nvSpPr>
        <p:spPr>
          <a:xfrm>
            <a:off x="6391656" y="3968496"/>
            <a:ext cx="2322576" cy="1225296"/>
          </a:xfrm>
          <a:prstGeom prst="roundRect">
            <a:avLst>
              <a:gd name="adj" fmla="val 10448"/>
            </a:avLst>
          </a:prstGeom>
          <a:solidFill>
            <a:srgbClr val="FFF9EF"/>
          </a:solidFill>
          <a:ln w="12700">
            <a:solidFill>
              <a:srgbClr val="E3C58A"/>
            </a:solidFill>
            <a:prstDash val="solid"/>
          </a:ln>
          <a:effectLst>
            <a:outerShdw blurRad="27940" dist="15240" dir="2700000" algn="bl" rotWithShape="0">
              <a:srgbClr val="0A0F1E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583680" y="4160520"/>
            <a:ext cx="347472" cy="347472"/>
          </a:xfrm>
          <a:prstGeom prst="ellipse">
            <a:avLst/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0" y="42428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022592" y="415137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Расширение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601968" y="4575533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2"/>
                </a:solidFill>
              </a:rPr>
              <a:t>кафедры, библиотека, общеинститутский контур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677656" y="3159252"/>
            <a:ext cx="2322576" cy="1225296"/>
          </a:xfrm>
          <a:prstGeom prst="roundRect">
            <a:avLst>
              <a:gd name="adj" fmla="val 10448"/>
            </a:avLst>
          </a:prstGeom>
          <a:solidFill>
            <a:srgbClr val="FFF9EF"/>
          </a:solidFill>
          <a:ln w="12700">
            <a:solidFill>
              <a:srgbClr val="4BE6FF"/>
            </a:solidFill>
            <a:prstDash val="solid"/>
          </a:ln>
          <a:effectLst>
            <a:outerShdw blurRad="27940" dist="15240" dir="2700000" algn="bl" rotWithShape="0">
              <a:srgbClr val="0A0F1E">
                <a:alpha val="16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869680" y="3392424"/>
            <a:ext cx="347472" cy="347472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69680" y="34747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9308592" y="3383280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Тиражирование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887968" y="37490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2"/>
                </a:solidFill>
              </a:rPr>
              <a:t>другие вузы, колледжи, корпоративные учебные центры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224528" y="5650992"/>
            <a:ext cx="1719072" cy="329184"/>
          </a:xfrm>
          <a:prstGeom prst="roundRect">
            <a:avLst>
              <a:gd name="adj" fmla="val 27778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B7F6FF">
                <a:alpha val="75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334256" y="572871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On-premise лицензия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053328" y="5650992"/>
            <a:ext cx="1847088" cy="329184"/>
          </a:xfrm>
          <a:prstGeom prst="roundRect">
            <a:avLst>
              <a:gd name="adj" fmla="val 27778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F4E6C4">
                <a:alpha val="75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63056" y="572871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E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интеграция и настройка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028432" y="5650992"/>
            <a:ext cx="1920240" cy="329184"/>
          </a:xfrm>
          <a:prstGeom prst="roundRect">
            <a:avLst>
              <a:gd name="adj" fmla="val 27778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B7F6FF">
                <a:alpha val="7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138160" y="5728716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техническое сопровождение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0076688" y="5650992"/>
            <a:ext cx="1408176" cy="329184"/>
          </a:xfrm>
          <a:prstGeom prst="roundRect">
            <a:avLst>
              <a:gd name="adj" fmla="val 27778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F4E6C4">
                <a:alpha val="75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186416" y="57287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E6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дисциплинарные модули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640080"/>
            <a:ext cx="3383280" cy="2560320"/>
          </a:xfrm>
          <a:prstGeom prst="ellipse">
            <a:avLst/>
          </a:prstGeom>
          <a:solidFill>
            <a:srgbClr val="E3C58A">
              <a:alpha val="12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4160520"/>
            <a:ext cx="2926080" cy="2103120"/>
          </a:xfrm>
          <a:prstGeom prst="ellipse">
            <a:avLst/>
          </a:prstGeom>
          <a:solidFill>
            <a:srgbClr val="E3C58A">
              <a:alpha val="11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2420" y="173736"/>
            <a:ext cx="11567160" cy="6419088"/>
          </a:xfrm>
          <a:prstGeom prst="rect">
            <a:avLst/>
          </a:prstGeom>
          <a:solidFill>
            <a:srgbClr val="F7F1E6">
              <a:alpha val="0"/>
            </a:srgbClr>
          </a:solidFill>
          <a:ln w="12700">
            <a:solidFill>
              <a:srgbClr val="D8CFBF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9" y="301752"/>
            <a:ext cx="2660904" cy="36576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D8C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65760"/>
            <a:ext cx="27957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8E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ДОСТИЖИМОСТЬ И КОНТРОЛЬ РЕЗУЛЬТАТА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94944" y="713232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533"/>
                </a:solidFill>
              </a:rPr>
              <a:t>Проект можно внедрять поэтапно, начиная с ограниченного пилота и быстро измеряя эффект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6384" y="1895714"/>
            <a:ext cx="81497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682"/>
                </a:solidFill>
              </a:rPr>
              <a:t>Архитектура </a:t>
            </a:r>
            <a:r>
              <a:rPr lang="en-US" sz="1100" dirty="0">
                <a:solidFill>
                  <a:srgbClr val="6E7682"/>
                </a:solidFill>
                <a:highlight>
                  <a:srgbClr val="FFFF00"/>
                </a:highlight>
              </a:rPr>
              <a:t>позволяет не ждать </a:t>
            </a:r>
            <a:r>
              <a:rPr lang="en-US" sz="1100" dirty="0">
                <a:solidFill>
                  <a:srgbClr val="6E7682"/>
                </a:solidFill>
              </a:rPr>
              <a:t>полного масштаба: первый </a:t>
            </a:r>
            <a:r>
              <a:rPr lang="en-US" sz="1100" dirty="0">
                <a:solidFill>
                  <a:srgbClr val="6E7682"/>
                </a:solidFill>
                <a:highlight>
                  <a:srgbClr val="FFFF00"/>
                </a:highlight>
              </a:rPr>
              <a:t>полезный результат </a:t>
            </a:r>
            <a:r>
              <a:rPr lang="en-US" sz="1100" dirty="0">
                <a:solidFill>
                  <a:srgbClr val="6E7682"/>
                </a:solidFill>
              </a:rPr>
              <a:t>появляется </a:t>
            </a:r>
            <a:r>
              <a:rPr lang="en-US" sz="1100" dirty="0">
                <a:solidFill>
                  <a:srgbClr val="6E7682"/>
                </a:solidFill>
                <a:highlight>
                  <a:srgbClr val="FFFF00"/>
                </a:highlight>
              </a:rPr>
              <a:t>уже на пилотном контуре</a:t>
            </a:r>
            <a:r>
              <a:rPr lang="en-US" sz="1100" dirty="0">
                <a:solidFill>
                  <a:srgbClr val="6E7682"/>
                </a:solidFill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10104120" cy="0"/>
          </a:xfrm>
          <a:prstGeom prst="line">
            <a:avLst/>
          </a:prstGeom>
          <a:noFill/>
          <a:ln w="12700">
            <a:solidFill>
              <a:srgbClr val="D8C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96896"/>
            <a:ext cx="475488" cy="475488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2491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8211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A2533"/>
                </a:solidFill>
              </a:rPr>
              <a:t>Корпус материалов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907792" y="2596896"/>
            <a:ext cx="475488" cy="475488"/>
          </a:xfrm>
          <a:prstGeom prst="ellipse">
            <a:avLst/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272491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87752" y="318211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A2533"/>
                </a:solidFill>
              </a:rPr>
              <a:t>Пилотная версия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901184" y="2596896"/>
            <a:ext cx="475488" cy="475488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272491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81144" y="318211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A2533"/>
                </a:solidFill>
              </a:rPr>
              <a:t>Межпредметный слой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894576" y="2596896"/>
            <a:ext cx="475488" cy="475488"/>
          </a:xfrm>
          <a:prstGeom prst="ellipse">
            <a:avLst/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272491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74536" y="318211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A2533"/>
                </a:solidFill>
              </a:rPr>
              <a:t>Задачи и рекомендации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887968" y="2596896"/>
            <a:ext cx="475488" cy="475488"/>
          </a:xfrm>
          <a:prstGeom prst="ellipse">
            <a:avLst/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87968" y="272491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67928" y="318211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A2533"/>
                </a:solidFill>
              </a:rPr>
              <a:t>Научный контур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10881360" y="2596896"/>
            <a:ext cx="475488" cy="475488"/>
          </a:xfrm>
          <a:prstGeom prst="ellipse">
            <a:avLst/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0" y="272491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13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61320" y="318211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A2533"/>
                </a:solidFill>
              </a:rPr>
              <a:t>Интеграция в среду института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86384" y="4114799"/>
            <a:ext cx="3675888" cy="1776843"/>
          </a:xfrm>
          <a:prstGeom prst="roundRect">
            <a:avLst>
              <a:gd name="adj" fmla="val 7317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9264" y="4279392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0F8E80"/>
          </a:solidFill>
          <a:ln w="12700">
            <a:solidFill>
              <a:srgbClr val="0F8E8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4425696"/>
            <a:ext cx="3310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Ключевые метрики успеха</a:t>
            </a:r>
            <a:endParaRPr lang="en-US" sz="1644" dirty="0"/>
          </a:p>
        </p:txBody>
      </p:sp>
      <p:sp>
        <p:nvSpPr>
          <p:cNvPr id="31" name="Text 29"/>
          <p:cNvSpPr/>
          <p:nvPr/>
        </p:nvSpPr>
        <p:spPr>
          <a:xfrm>
            <a:off x="969264" y="498348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время поиска нужной темы;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точность релевантного источника;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удовлетворённость студентов и преподавателей;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число проиндексированных материалов и полезных ответов.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26864" y="4114800"/>
            <a:ext cx="3054096" cy="1776842"/>
          </a:xfrm>
          <a:prstGeom prst="roundRect">
            <a:avLst>
              <a:gd name="adj" fmla="val 7317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9744" y="4279392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B56A4F"/>
          </a:solidFill>
          <a:ln w="12700">
            <a:solidFill>
              <a:srgbClr val="B56A4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4425696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Снижение рисков</a:t>
            </a:r>
            <a:endParaRPr lang="en-US" sz="1644" dirty="0"/>
          </a:p>
        </p:txBody>
      </p:sp>
      <p:sp>
        <p:nvSpPr>
          <p:cNvPr id="35" name="Text 33"/>
          <p:cNvSpPr/>
          <p:nvPr/>
        </p:nvSpPr>
        <p:spPr>
          <a:xfrm>
            <a:off x="4809744" y="498348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опора на источники вместо свободной генерации;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парсинг, нормализация и OCR;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многоуровневая архитектура поиска.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45552" y="4114800"/>
            <a:ext cx="3346704" cy="1776842"/>
          </a:xfrm>
          <a:prstGeom prst="roundRect">
            <a:avLst>
              <a:gd name="adj" fmla="val 7317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28432" y="4279392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4425696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Доверие и безопасность</a:t>
            </a:r>
            <a:endParaRPr lang="en-US" sz="1644" dirty="0"/>
          </a:p>
        </p:txBody>
      </p:sp>
      <p:sp>
        <p:nvSpPr>
          <p:cNvPr id="39" name="Text 37"/>
          <p:cNvSpPr/>
          <p:nvPr/>
        </p:nvSpPr>
        <p:spPr>
          <a:xfrm>
            <a:off x="8028432" y="498348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локальное развёртывание внутри института позволяет контролировать материалы, качество ответов и конфиденциальность.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68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411480"/>
            <a:ext cx="4572000" cy="3108960"/>
          </a:xfrm>
          <a:prstGeom prst="ellipse">
            <a:avLst/>
          </a:prstGeom>
          <a:solidFill>
            <a:srgbClr val="E3C58A">
              <a:alpha val="8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566160"/>
            <a:ext cx="4023360" cy="2743200"/>
          </a:xfrm>
          <a:prstGeom prst="ellipse">
            <a:avLst/>
          </a:prstGeom>
          <a:solidFill>
            <a:srgbClr val="4BE6FF">
              <a:alpha val="5000"/>
            </a:srgbClr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" y="36576"/>
            <a:ext cx="12191695" cy="6858000"/>
          </a:xfrm>
          <a:prstGeom prst="rect">
            <a:avLst/>
          </a:prstGeom>
          <a:solidFill>
            <a:srgbClr val="0C132B">
              <a:alpha val="94000"/>
            </a:srgbClr>
          </a:solidFill>
          <a:ln w="12700">
            <a:solidFill>
              <a:srgbClr val="0C132B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3800" y="182880"/>
            <a:ext cx="4343400" cy="6263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30175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4BE6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36576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КОМАНДА И РЕАЛИЗУЕМОСТЬ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94944" y="713232"/>
            <a:ext cx="6894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Команда закрывает ключевые компетенции: управление, архитектуру, ML, UX и контроль качества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40664" y="1900705"/>
            <a:ext cx="6803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3" dirty="0">
                <a:solidFill>
                  <a:srgbClr val="D0D9EE"/>
                </a:solidFill>
              </a:rPr>
              <a:t>Это </a:t>
            </a:r>
            <a:r>
              <a:rPr lang="en-US" sz="1103" dirty="0">
                <a:highlight>
                  <a:srgbClr val="FFFF00"/>
                </a:highlight>
              </a:rPr>
              <a:t>снижает риск недореализации</a:t>
            </a:r>
            <a:r>
              <a:rPr lang="en-US" sz="1103" dirty="0"/>
              <a:t> </a:t>
            </a:r>
            <a:r>
              <a:rPr lang="en-US" sz="1103" dirty="0">
                <a:solidFill>
                  <a:srgbClr val="D0D9EE"/>
                </a:solidFill>
              </a:rPr>
              <a:t>и делает переход от концепции к пилоту </a:t>
            </a:r>
            <a:r>
              <a:rPr lang="en-US" sz="1103" dirty="0">
                <a:highlight>
                  <a:srgbClr val="FFFF00"/>
                </a:highlight>
              </a:rPr>
              <a:t>практически</a:t>
            </a:r>
            <a:r>
              <a:rPr lang="en-US" sz="1103" dirty="0">
                <a:solidFill>
                  <a:srgbClr val="D0D9EE"/>
                </a:solidFill>
                <a:highlight>
                  <a:srgbClr val="FFFF00"/>
                </a:highlight>
              </a:rPr>
              <a:t> </a:t>
            </a:r>
            <a:r>
              <a:rPr lang="en-US" sz="1103" dirty="0">
                <a:highlight>
                  <a:srgbClr val="FFFF00"/>
                </a:highlight>
              </a:rPr>
              <a:t>достижимым</a:t>
            </a:r>
            <a:r>
              <a:rPr lang="en-US" sz="1103" dirty="0">
                <a:solidFill>
                  <a:srgbClr val="D0D9EE"/>
                </a:solidFill>
              </a:rPr>
              <a:t>.</a:t>
            </a:r>
            <a:endParaRPr lang="en-US" sz="1103" dirty="0"/>
          </a:p>
        </p:txBody>
      </p:sp>
      <p:sp>
        <p:nvSpPr>
          <p:cNvPr id="10" name="Shape 7"/>
          <p:cNvSpPr/>
          <p:nvPr/>
        </p:nvSpPr>
        <p:spPr>
          <a:xfrm>
            <a:off x="768096" y="2596896"/>
            <a:ext cx="1901952" cy="2212848"/>
          </a:xfrm>
          <a:prstGeom prst="roundRect">
            <a:avLst>
              <a:gd name="adj" fmla="val 5769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50976" y="2761488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90779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3"/>
                </a:solidFill>
              </a:rPr>
              <a:t>Технический руководитель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50976" y="3465576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3" dirty="0">
                <a:solidFill>
                  <a:srgbClr val="6E7682"/>
                </a:solidFill>
              </a:rPr>
              <a:t>архитектура платформы, интеграция модулей и техническое качество реализации</a:t>
            </a:r>
            <a:endParaRPr lang="en-US" sz="1203" dirty="0"/>
          </a:p>
        </p:txBody>
      </p:sp>
      <p:sp>
        <p:nvSpPr>
          <p:cNvPr id="14" name="Shape 11"/>
          <p:cNvSpPr/>
          <p:nvPr/>
        </p:nvSpPr>
        <p:spPr>
          <a:xfrm>
            <a:off x="3035808" y="2596896"/>
            <a:ext cx="1901952" cy="2212848"/>
          </a:xfrm>
          <a:prstGeom prst="roundRect">
            <a:avLst>
              <a:gd name="adj" fmla="val 5769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18688" y="2761488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18688" y="290779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3"/>
                </a:solidFill>
              </a:rPr>
              <a:t>Руководитель проекта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18688" y="3465576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72" dirty="0">
                <a:solidFill>
                  <a:srgbClr val="6E7682"/>
                </a:solidFill>
              </a:rPr>
              <a:t>сроки, координация работ, пилот и взаимодействие с институтом</a:t>
            </a:r>
            <a:endParaRPr lang="en-US" sz="1272" dirty="0"/>
          </a:p>
        </p:txBody>
      </p:sp>
      <p:sp>
        <p:nvSpPr>
          <p:cNvPr id="18" name="Shape 15"/>
          <p:cNvSpPr/>
          <p:nvPr/>
        </p:nvSpPr>
        <p:spPr>
          <a:xfrm>
            <a:off x="5303520" y="2596896"/>
            <a:ext cx="1901952" cy="2212848"/>
          </a:xfrm>
          <a:prstGeom prst="roundRect">
            <a:avLst>
              <a:gd name="adj" fmla="val 5769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0" y="2761488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0F8E80"/>
          </a:solidFill>
          <a:ln w="12700">
            <a:solidFill>
              <a:srgbClr val="0F8E8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290779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ML-инженер</a:t>
            </a:r>
            <a:endParaRPr lang="en-US" sz="1644" dirty="0"/>
          </a:p>
        </p:txBody>
      </p:sp>
      <p:sp>
        <p:nvSpPr>
          <p:cNvPr id="21" name="Text 18"/>
          <p:cNvSpPr/>
          <p:nvPr/>
        </p:nvSpPr>
        <p:spPr>
          <a:xfrm>
            <a:off x="5486400" y="3465576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3" dirty="0">
                <a:solidFill>
                  <a:srgbClr val="6E7682"/>
                </a:solidFill>
              </a:rPr>
              <a:t>языковые модели, индексация документов, граф знаний и валидация качества ответов</a:t>
            </a:r>
            <a:endParaRPr lang="en-US" sz="1203" dirty="0"/>
          </a:p>
        </p:txBody>
      </p:sp>
      <p:sp>
        <p:nvSpPr>
          <p:cNvPr id="22" name="Shape 19"/>
          <p:cNvSpPr/>
          <p:nvPr/>
        </p:nvSpPr>
        <p:spPr>
          <a:xfrm>
            <a:off x="7571232" y="2596896"/>
            <a:ext cx="1901952" cy="2212848"/>
          </a:xfrm>
          <a:prstGeom prst="roundRect">
            <a:avLst>
              <a:gd name="adj" fmla="val 5769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754112" y="2761488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B56A4F"/>
          </a:solidFill>
          <a:ln w="12700">
            <a:solidFill>
              <a:srgbClr val="B56A4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54112" y="290779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3"/>
                </a:solidFill>
              </a:rPr>
              <a:t>Художник-дизайнер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754112" y="3465576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13" dirty="0">
                <a:solidFill>
                  <a:srgbClr val="6E7682"/>
                </a:solidFill>
              </a:rPr>
              <a:t>визуальная концепция, удобство интерфейса и понятность пользовательского опыта</a:t>
            </a:r>
            <a:endParaRPr lang="en-US" sz="1113" dirty="0"/>
          </a:p>
        </p:txBody>
      </p:sp>
      <p:sp>
        <p:nvSpPr>
          <p:cNvPr id="26" name="Shape 23"/>
          <p:cNvSpPr/>
          <p:nvPr/>
        </p:nvSpPr>
        <p:spPr>
          <a:xfrm>
            <a:off x="9838944" y="2596896"/>
            <a:ext cx="1901952" cy="2212848"/>
          </a:xfrm>
          <a:prstGeom prst="roundRect">
            <a:avLst>
              <a:gd name="adj" fmla="val 5769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21824" y="2761488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21824" y="290779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3"/>
                </a:solidFill>
              </a:rPr>
              <a:t>QA / тестирование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021824" y="3465576"/>
            <a:ext cx="1536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3" dirty="0">
                <a:solidFill>
                  <a:srgbClr val="6E7682"/>
                </a:solidFill>
              </a:rPr>
              <a:t>проверка сценариев, устойчивости системы и качества пользовательского контура</a:t>
            </a:r>
            <a:endParaRPr lang="en-US" sz="1203" dirty="0"/>
          </a:p>
        </p:txBody>
      </p:sp>
      <p:sp>
        <p:nvSpPr>
          <p:cNvPr id="30" name="Shape 27"/>
          <p:cNvSpPr/>
          <p:nvPr/>
        </p:nvSpPr>
        <p:spPr>
          <a:xfrm>
            <a:off x="1316736" y="5358384"/>
            <a:ext cx="9345168" cy="960120"/>
          </a:xfrm>
          <a:prstGeom prst="roundRect">
            <a:avLst>
              <a:gd name="adj" fmla="val 13333"/>
            </a:avLst>
          </a:prstGeom>
          <a:solidFill>
            <a:srgbClr val="111B39">
              <a:alpha val="95000"/>
            </a:srgbClr>
          </a:solidFill>
          <a:ln w="12700">
            <a:solidFill>
              <a:srgbClr val="E3C58A">
                <a:alpha val="72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17904" y="5522976"/>
            <a:ext cx="89428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Пилот реалистичен: проект можно запускать с ограниченного набора дисциплин, быстро собирать обратную связь и расширять контур по мере подтверждения эффекта.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411480"/>
            <a:ext cx="4572000" cy="3108960"/>
          </a:xfrm>
          <a:prstGeom prst="ellipse">
            <a:avLst/>
          </a:prstGeom>
          <a:solidFill>
            <a:srgbClr val="4BE6FF">
              <a:alpha val="8000"/>
            </a:srgbClr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566160"/>
            <a:ext cx="4023360" cy="2743200"/>
          </a:xfrm>
          <a:prstGeom prst="ellipse">
            <a:avLst/>
          </a:prstGeom>
          <a:solidFill>
            <a:srgbClr val="E3C58A">
              <a:alpha val="5000"/>
            </a:srgbClr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1402" y="-32849"/>
            <a:ext cx="12191695" cy="6858000"/>
          </a:xfrm>
          <a:prstGeom prst="rect">
            <a:avLst/>
          </a:prstGeom>
          <a:solidFill>
            <a:srgbClr val="0C132B">
              <a:alpha val="94000"/>
            </a:srgbClr>
          </a:solidFill>
          <a:ln w="12700">
            <a:solidFill>
              <a:srgbClr val="0C132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301752"/>
            <a:ext cx="2103120" cy="310896"/>
          </a:xfrm>
          <a:prstGeom prst="roundRect">
            <a:avLst>
              <a:gd name="adj" fmla="val 23529"/>
            </a:avLst>
          </a:prstGeom>
          <a:solidFill>
            <a:srgbClr val="111B39">
              <a:alpha val="92000"/>
            </a:srgbClr>
          </a:solidFill>
          <a:ln w="12700">
            <a:solidFill>
              <a:srgbClr val="4BE6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365760"/>
            <a:ext cx="1810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ИТОГОВОЕ ПОЗИЦИОНИРОВАНИЕ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86384" y="950976"/>
            <a:ext cx="6583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Проект превращает разрозненные материалы института в интеллектуальную образовательную среду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59536" y="2267712"/>
            <a:ext cx="6199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DCF0"/>
                </a:solidFill>
              </a:rPr>
              <a:t>Поддержка проекта означает инвестицию не просто в программный продукт, а в </a:t>
            </a:r>
            <a:r>
              <a:rPr lang="en-US" sz="1200" dirty="0">
                <a:highlight>
                  <a:srgbClr val="FFFF00"/>
                </a:highlight>
              </a:rPr>
              <a:t>современную интеллектуальную инфраструктуру обучения</a:t>
            </a:r>
            <a:r>
              <a:rPr lang="en-US" sz="1200" dirty="0">
                <a:solidFill>
                  <a:srgbClr val="D2DCF0"/>
                </a:solidFill>
              </a:rPr>
              <a:t>, науки и цифрового развития института.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6384" y="3730752"/>
            <a:ext cx="2218905" cy="1700784"/>
          </a:xfrm>
          <a:prstGeom prst="roundRect">
            <a:avLst>
              <a:gd name="adj" fmla="val 7595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9264" y="3895344"/>
            <a:ext cx="502920" cy="100584"/>
          </a:xfrm>
          <a:prstGeom prst="roundRect">
            <a:avLst>
              <a:gd name="adj" fmla="val 36364"/>
            </a:avLst>
          </a:prstGeom>
          <a:solidFill>
            <a:srgbClr val="4BE6FF"/>
          </a:solidFill>
          <a:ln w="12700">
            <a:solidFill>
              <a:srgbClr val="4BE6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4041648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Для студентов</a:t>
            </a:r>
            <a:endParaRPr lang="en-US" sz="1644" dirty="0"/>
          </a:p>
        </p:txBody>
      </p:sp>
      <p:sp>
        <p:nvSpPr>
          <p:cNvPr id="13" name="Text 10"/>
          <p:cNvSpPr/>
          <p:nvPr/>
        </p:nvSpPr>
        <p:spPr>
          <a:xfrm>
            <a:off x="969264" y="4599431"/>
            <a:ext cx="2036025" cy="694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поиск по смыслу, понятные объяснения, задачи на закрепление и персональные аудиолекции.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36277" y="3753000"/>
            <a:ext cx="2266023" cy="1678536"/>
          </a:xfrm>
          <a:prstGeom prst="roundRect">
            <a:avLst>
              <a:gd name="adj" fmla="val 7595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19157" y="3895344"/>
            <a:ext cx="502920" cy="116860"/>
          </a:xfrm>
          <a:prstGeom prst="roundRect">
            <a:avLst>
              <a:gd name="adj" fmla="val 36364"/>
            </a:avLst>
          </a:prstGeom>
          <a:solidFill>
            <a:srgbClr val="E3C58A"/>
          </a:solidFill>
          <a:ln w="12700">
            <a:solidFill>
              <a:srgbClr val="E3C58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19157" y="4041647"/>
            <a:ext cx="2231136" cy="61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Для института</a:t>
            </a:r>
            <a:endParaRPr lang="en-US" sz="1644" dirty="0"/>
          </a:p>
        </p:txBody>
      </p:sp>
      <p:sp>
        <p:nvSpPr>
          <p:cNvPr id="17" name="Text 14"/>
          <p:cNvSpPr/>
          <p:nvPr/>
        </p:nvSpPr>
        <p:spPr>
          <a:xfrm>
            <a:off x="3419157" y="4599432"/>
            <a:ext cx="2032298" cy="694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рост полезности ресурсов, снижение рутины, локальная безопасность и современный имидж.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767328"/>
            <a:ext cx="2346572" cy="1678536"/>
          </a:xfrm>
          <a:prstGeom prst="roundRect">
            <a:avLst>
              <a:gd name="adj" fmla="val 7595"/>
            </a:avLst>
          </a:prstGeom>
          <a:solidFill>
            <a:srgbClr val="FFF9EF"/>
          </a:solidFill>
          <a:ln w="12700">
            <a:solidFill>
              <a:srgbClr val="D8CFBF"/>
            </a:solidFill>
            <a:prstDash val="solid"/>
          </a:ln>
          <a:effectLst>
            <a:outerShdw blurRad="31750" dist="17780" dir="2700000" algn="bl" rotWithShape="0">
              <a:srgbClr val="0A0F1E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3931920"/>
            <a:ext cx="502920" cy="116860"/>
          </a:xfrm>
          <a:prstGeom prst="roundRect">
            <a:avLst>
              <a:gd name="adj" fmla="val 36364"/>
            </a:avLst>
          </a:prstGeom>
          <a:solidFill>
            <a:srgbClr val="0F8E80"/>
          </a:solidFill>
          <a:ln w="12700">
            <a:solidFill>
              <a:srgbClr val="0F8E8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4078224"/>
            <a:ext cx="2231136" cy="48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44" b="1" dirty="0">
                <a:solidFill>
                  <a:srgbClr val="1A2533"/>
                </a:solidFill>
              </a:rPr>
              <a:t>Для развития</a:t>
            </a:r>
            <a:endParaRPr lang="en-US" sz="1644" dirty="0"/>
          </a:p>
        </p:txBody>
      </p:sp>
      <p:sp>
        <p:nvSpPr>
          <p:cNvPr id="21" name="Text 18"/>
          <p:cNvSpPr/>
          <p:nvPr/>
        </p:nvSpPr>
        <p:spPr>
          <a:xfrm>
            <a:off x="5943600" y="4566912"/>
            <a:ext cx="1920240" cy="72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7682"/>
                </a:solidFill>
              </a:rPr>
              <a:t>масштабируемая платформа для библиотек, кафедр, исследований и будущих цифровых сервисов.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627110" y="4437693"/>
            <a:ext cx="2944368" cy="530352"/>
          </a:xfrm>
          <a:prstGeom prst="roundRect">
            <a:avLst>
              <a:gd name="adj" fmla="val 17241"/>
            </a:avLst>
          </a:prstGeom>
          <a:solidFill>
            <a:srgbClr val="111B39"/>
          </a:solidFill>
          <a:ln w="12700">
            <a:solidFill>
              <a:srgbClr val="4BE6FF">
                <a:alpha val="72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828278" y="4602285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E6C4"/>
                </a:solidFill>
              </a:rPr>
              <a:t>Следующий шаг: пилот на ограниченном контуре дисциплин</a:t>
            </a:r>
            <a:endParaRPr lang="en-US" sz="920" dirty="0"/>
          </a:p>
        </p:txBody>
      </p:sp>
      <p:sp>
        <p:nvSpPr>
          <p:cNvPr id="25" name="Text 21"/>
          <p:cNvSpPr/>
          <p:nvPr/>
        </p:nvSpPr>
        <p:spPr>
          <a:xfrm>
            <a:off x="10881360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F6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/ 12</a:t>
            </a:r>
            <a:endParaRPr lang="en-US" sz="900" dirty="0"/>
          </a:p>
        </p:txBody>
      </p:sp>
      <p:pic>
        <p:nvPicPr>
          <p:cNvPr id="27" name="Picture 26" descr="A logo with a book and blue dots">
            <a:extLst>
              <a:ext uri="{FF2B5EF4-FFF2-40B4-BE49-F238E27FC236}">
                <a16:creationId xmlns:a16="http://schemas.microsoft.com/office/drawing/2014/main" id="{D8B1DCBE-AEF5-676C-4120-B6E464AEA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530" y="722721"/>
            <a:ext cx="2855976" cy="32732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1454</Words>
  <Application>Microsoft Office PowerPoint</Application>
  <PresentationFormat>Widescreen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RAG Contest Deck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интеллектуальной образовательной платформы для поиска, объяснения и навигации по учебным материалам</dc:title>
  <dc:subject>Конкурсная презентация проекта по созданию интеллектуальной образовательной платформы</dc:subject>
  <dc:creator>GROM ARINA</dc:creator>
  <cp:lastModifiedBy>0dmin</cp:lastModifiedBy>
  <cp:revision>19</cp:revision>
  <dcterms:created xsi:type="dcterms:W3CDTF">2026-03-18T02:24:52Z</dcterms:created>
  <dcterms:modified xsi:type="dcterms:W3CDTF">2026-03-18T03:02:28Z</dcterms:modified>
</cp:coreProperties>
</file>